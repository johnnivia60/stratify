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Work Sans" pitchFamily="2" charset="0"/>
      <p:regular r:id="rId22"/>
      <p:bold r:id="rId23"/>
      <p:italic r:id="rId24"/>
      <p:boldItalic r:id="rId25"/>
    </p:embeddedFont>
    <p:embeddedFont>
      <p:font typeface="Work Sans SemiBold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23" autoAdjust="0"/>
  </p:normalViewPr>
  <p:slideViewPr>
    <p:cSldViewPr snapToGrid="0">
      <p:cViewPr varScale="1">
        <p:scale>
          <a:sx n="89" d="100"/>
          <a:sy n="89" d="100"/>
        </p:scale>
        <p:origin x="510" y="96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e628cec1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f0e628ce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e628cec1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O" sz="1200" b="1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Visdualizar</a:t>
            </a: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inventario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20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del stock disponible</a:t>
            </a:r>
            <a:endParaRPr lang="es-CO" sz="120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7" name="Google Shape;247;g3f0e628ce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391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628cec1_0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3f0e628cec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e628cec1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f0e628cec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e628cec1_0_4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g3f0e628cec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e628cec1_0_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5" name="Google Shape;405;g3f0e628cec1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0e628cec1_0_5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9" name="Google Shape;449;g3f0e628cec1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0e628cec1_0_7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f0e628cec1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e628cec1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g3f0e628cec1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0e628cec1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f0e628cec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012157" y="-117990"/>
            <a:ext cx="9041383" cy="281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9960"/>
              </a:lnSpc>
              <a:spcBef>
                <a:spcPts val="1694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3600" b="1" i="0" u="none" strike="noStrike" cap="none" dirty="0">
                <a:solidFill>
                  <a:srgbClr val="404040"/>
                </a:solidFill>
                <a:latin typeface="Work Sans"/>
                <a:ea typeface="Work Sans"/>
                <a:cs typeface="Work Sans"/>
                <a:sym typeface="Work Sans"/>
              </a:rPr>
              <a:t>STRATIFY – SISTEMA DE INVENTARIOS</a:t>
            </a: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000" b="1" i="0" u="none" strike="noStrike" cap="non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sz="1000" b="1" i="0" u="none" strike="noStrike" cap="non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62764" y="3429000"/>
            <a:ext cx="45825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 b="0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 dirty="0">
                <a:solidFill>
                  <a:schemeClr val="accent5"/>
                </a:solidFill>
              </a:rPr>
              <a:t>John Nivia</a:t>
            </a:r>
            <a:endParaRPr sz="12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dirty="0">
                <a:solidFill>
                  <a:schemeClr val="accent5"/>
                </a:solidFill>
              </a:rPr>
              <a:t>Juan Duarte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3508FC89-3021-EA0A-34FD-F30A042F92C3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7910715" y="2740632"/>
            <a:ext cx="2296857" cy="219846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541015" y="786381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 dirty="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¿Qué es  STRATIFY?</a:t>
            </a:r>
            <a:endParaRPr sz="3600" b="1" dirty="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1015" y="1728213"/>
            <a:ext cx="5943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r>
              <a:rPr lang="es-CO" sz="14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Sistema de información para automatizar y controlar el inventario de una cervecería mediante la arquitectura Modelo–Vista–Controlador (MVC). Busca optimizar las existencias, reducir pérdidas por vencimiento y apoyar la toma de decisiones.</a:t>
            </a:r>
            <a:endParaRPr sz="14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1015" y="2825493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El sistema permite: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1015" y="3236973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16" descr="icons/windo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358" y="3327316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1043935" y="3209541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productos, existencias, historial de movimientos y usuarios.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1015" y="3749037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6" descr="icons/fil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358" y="3839380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1043935" y="3721605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Buscar productos por nombre, código o categoría; consultar proveedores.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41015" y="4285485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6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358" y="4375828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1043935" y="4258053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Registrar entradas y salidas de productos.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96095" y="1728213"/>
            <a:ext cx="4755000" cy="4617600"/>
          </a:xfrm>
          <a:prstGeom prst="roundRect">
            <a:avLst>
              <a:gd name="adj" fmla="val 1584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TECNOLOGÍAS Y HERRAMIENTAS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6" descr="icons/cod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IHTML , JS ,Bootstrap.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6" descr="icons/serv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NetBeans 17 Java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6" descr="icons/databas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MySQL 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6" descr="icons/clou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GitHub · </a:t>
            </a:r>
            <a:r>
              <a:rPr lang="es-CO" sz="1100" dirty="0" err="1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r>
              <a:rPr lang="es-CO" sz="1100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Agenda de la sustentación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864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1323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5" descr="icons/bullsey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36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137160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Resumen y objetivos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37160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es </a:t>
            </a: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STRATIFY</a:t>
            </a: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 y qué buscamos lograr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01218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17677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5" descr="icons/warn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90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683514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y justificación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3514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Necesidad de controlar existencias y vencimientos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864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1323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5" descr="icons/rou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36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37160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Alcance y metodología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37160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Funciones del inventario y metodología Scrum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1218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17677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5" descr="icons/clipboar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990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683514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Requerimientos (IEEE 830)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83514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Funcionalidades esenciales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4864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1323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5" descr="icons/lay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36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137160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37160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MVC, base de datos relacional y herramientas del proyecto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1218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17677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5" descr="icons/windo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990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683514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Interfaz y recorrido por el sistema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3514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Recorrido por las pantallas del sistema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8640" y="4818888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3232" y="4983480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15" descr="icons/flask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6369" y="51166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1371600" y="4928616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Pruebas y conclusiones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71600" y="5239512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Cómo validamos la calidad del software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54101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41015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861055" y="18745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manual e informal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61055" y="233172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4077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1290823" y="229514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La gestión manual dificulta conocer el estado real del inventario.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61055" y="2866644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94272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/>
          <p:nvPr/>
        </p:nvSpPr>
        <p:spPr>
          <a:xfrm>
            <a:off x="1290823" y="2830068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Desorganización de la información y riesgo de pérdida de datos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61055" y="3401568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347764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1290823" y="3364992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Dificultad para controlar las existencias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61055" y="3936492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012570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1290823" y="3899916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Falta de trazabilidad de los movimientos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61055" y="4471416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5474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1290823" y="4434840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Errores de registro y generación de sobrecostos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1290823" y="496976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935975" y="1645920"/>
            <a:ext cx="5715000" cy="4480500"/>
          </a:xfrm>
          <a:prstGeom prst="roundRect">
            <a:avLst>
              <a:gd name="adj" fmla="val 1633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256015" y="1920240"/>
            <a:ext cx="548700" cy="5487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1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8661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Automatizada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El seguimiento insuficiente de los vencimientos puede ocasionar pérdidas de productos.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name="adj" fmla="val 3137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30335" y="4114800"/>
            <a:ext cx="461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Stratify centraliza el registro de productos y movimientos, facilita la consulta de existencias y vencimientos, y contempla alertas de stock cero y vencimiento próximo.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00"/>
              <a:buFont typeface="Calibri"/>
              <a:buNone/>
            </a:pPr>
            <a:r>
              <a:rPr lang="es-CO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Stratify responde a la necesidad de organizar y modernizar el control del inventario, reducir errores manuales y mejorar el seguimiento de los productos.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8" descr="icons/cog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Modernizar la gestión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Organizar productos,  inventario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8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Reducir errores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Menos fallos por procesos manuales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18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Consulta oportuna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Acceso a la información del inventario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18" descr="icons/lea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Prevención de pérdidas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Ayuda a identificar productos próximos a vencer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334256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8" descr="icons/chart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 administración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Mayor control </a:t>
            </a: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y mitigación de errores 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8" descr="icons/shiel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Trazabilidad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Registro de movimientos y cambios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1645920"/>
            <a:ext cx="10607100" cy="1051500"/>
          </a:xfrm>
          <a:prstGeom prst="roundRect">
            <a:avLst>
              <a:gd name="adj" fmla="val 6957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icons/bulls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1645920" y="17647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s-CO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 sistema de información bajo arquitectura MVC para automatizar y controlar el inventario de una cervecería, optimizar el stock de sus locales, mitigar pérdidas por vencimiento y apoyar decisiones mediante reportes estratégicos.</a:t>
            </a:r>
            <a:endParaRPr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8640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300277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9" descr="icons/clip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9149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40080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Diseñar la base de datos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58368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Centralizar productos, proveedores, movimientos</a:t>
            </a:r>
            <a:r>
              <a:rPr lang="en-US" sz="105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710282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9"/>
          <p:cNvSpPr/>
          <p:nvPr/>
        </p:nvSpPr>
        <p:spPr>
          <a:xfrm>
            <a:off x="3461918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19" descr="icons/boxe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079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2801722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Implementar alertas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820010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Notificar stock cero y vencimientos próximos.</a:t>
            </a:r>
          </a:p>
        </p:txBody>
      </p:sp>
      <p:sp>
        <p:nvSpPr>
          <p:cNvPr id="267" name="Google Shape;267;p19"/>
          <p:cNvSpPr/>
          <p:nvPr/>
        </p:nvSpPr>
        <p:spPr>
          <a:xfrm>
            <a:off x="4871923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9"/>
          <p:cNvSpPr/>
          <p:nvPr/>
        </p:nvSpPr>
        <p:spPr>
          <a:xfrm>
            <a:off x="5623560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19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2432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/>
          <p:nvPr/>
        </p:nvSpPr>
        <p:spPr>
          <a:xfrm>
            <a:off x="4963363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productos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981651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Registrar y actualizar productos del inventario.</a:t>
            </a:r>
          </a:p>
        </p:txBody>
      </p:sp>
      <p:sp>
        <p:nvSpPr>
          <p:cNvPr id="272" name="Google Shape;272;p19"/>
          <p:cNvSpPr/>
          <p:nvPr/>
        </p:nvSpPr>
        <p:spPr>
          <a:xfrm>
            <a:off x="7033565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785202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9" descr="icons/mobil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074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/>
          <p:nvPr/>
        </p:nvSpPr>
        <p:spPr>
          <a:xfrm>
            <a:off x="7125005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usuarios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143293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Incorporar autenticación, roles y permisos.</a:t>
            </a:r>
            <a:endParaRPr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9195206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19"/>
          <p:cNvSpPr/>
          <p:nvPr/>
        </p:nvSpPr>
        <p:spPr>
          <a:xfrm>
            <a:off x="9946843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19" descr="icons/leaf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65715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9"/>
          <p:cNvSpPr/>
          <p:nvPr/>
        </p:nvSpPr>
        <p:spPr>
          <a:xfrm>
            <a:off x="9286646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Generar reportes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304934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endParaRPr lang="es-ES"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6;p19">
            <a:extLst>
              <a:ext uri="{FF2B5EF4-FFF2-40B4-BE49-F238E27FC236}">
                <a16:creationId xmlns:a16="http://schemas.microsoft.com/office/drawing/2014/main" id="{DBF1810A-0CBD-EF8D-D393-9829AEE3BEA6}"/>
              </a:ext>
            </a:extLst>
          </p:cNvPr>
          <p:cNvSpPr/>
          <p:nvPr/>
        </p:nvSpPr>
        <p:spPr>
          <a:xfrm>
            <a:off x="9314090" y="461754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05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Consultar costos, movimientos y rotación de productos.</a:t>
            </a:r>
            <a:endParaRPr lang="es-CO" sz="105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86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4864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0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Agente interno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Iniciar sesión y acceder según el rol
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Consultar productos y existentes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endParaRPr lang="es-CO" sz="1150" b="1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Buscar por nombre, código </a:t>
            </a:r>
            <a:r>
              <a:rPr lang="es-CO" sz="1150" b="1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
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Hacer salida  de los  productos  mediante un   código  o nombre  hasta un tope  asignado por el administrador que hay en el stock </a:t>
            </a: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
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gestionar su configuración  de usuario o proveedor  solamente con  los parámetros asignados por el administrador.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86868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6868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86868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6868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06896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48056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0" descr="icons/cog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320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5166360" y="1993392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48056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Gestionar productos y límites de stock</a:t>
            </a:r>
            <a:endParaRPr sz="115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48056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Administrar inventario  y agregar producto</a:t>
            </a:r>
            <a:endParaRPr sz="115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48056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Gestionar usuarios, roles y permisos</a:t>
            </a:r>
            <a:endParaRPr sz="115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48056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Consultar reportes </a:t>
            </a:r>
            <a:endParaRPr sz="115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48056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Revisar accesos e historial de cambios</a:t>
            </a:r>
            <a:endParaRPr sz="115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7772400" y="1645920"/>
            <a:ext cx="3931800" cy="4480500"/>
          </a:xfrm>
          <a:prstGeom prst="roundRect">
            <a:avLst>
              <a:gd name="adj" fmla="val 186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8092440" y="1920240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20" descr="icons/clou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508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/>
          <p:nvPr/>
        </p:nvSpPr>
        <p:spPr>
          <a:xfrm>
            <a:off x="8778240" y="199339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tecnológico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8092440" y="2606040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Plataforma web adaptable (responsive)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8092440" y="3227832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Arquitectura cliente–servidor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8092440" y="3849624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8092440" y="4471416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Respaldos y controles de seguridad contemplados en el SRS</a:t>
            </a:r>
            <a:endParaRPr sz="1150" dirty="0">
              <a:solidFill>
                <a:srgbClr val="E4EE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092440" y="5093208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 sz="1150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Control de inventario para los locales comerciales de la cervecería</a:t>
            </a:r>
            <a:endParaRPr sz="1150" dirty="0">
              <a:solidFill>
                <a:srgbClr val="E4EE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Metodología ágil: Scrum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350"/>
              <a:buFont typeface="Calibri"/>
              <a:buNone/>
            </a:pPr>
            <a:r>
              <a:rPr lang="es-CO" sz="13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 plantea un ciclo iterativo e incremental con Scrum, que comprende levantamiento de requisitos, diseño, desarrollo de módulos, pruebas, implementación y mantenimiento.</a:t>
            </a:r>
            <a:endParaRPr sz="13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48640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713232" y="2966343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908" y="310902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>
            <a:off x="1426524" y="3126589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Jhon Nivia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713232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endParaRPr sz="9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4512444" y="251454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21"/>
          <p:cNvSpPr/>
          <p:nvPr/>
        </p:nvSpPr>
        <p:spPr>
          <a:xfrm>
            <a:off x="4512444" y="2966343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120" y="3117899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/>
          <p:nvPr/>
        </p:nvSpPr>
        <p:spPr>
          <a:xfrm>
            <a:off x="5318820" y="3133751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Juan Duarte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39776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Fases del proyecto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486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486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16408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234696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234696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96240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14528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414528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76072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594360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594360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55904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774192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774192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935736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95402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95402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548640" y="5349240"/>
            <a:ext cx="10607100" cy="777300"/>
          </a:xfrm>
          <a:prstGeom prst="roundRect">
            <a:avLst>
              <a:gd name="adj" fmla="val 9412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822960" y="5349240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de versiones:  </a:t>
            </a: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 GitHub Desktop, con sincronización a la nube y despliegue </a:t>
            </a:r>
            <a:r>
              <a:rPr lang="es-CO" sz="12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/>
          <p:nvPr/>
        </p:nvSpPr>
        <p:spPr>
          <a:xfrm>
            <a:off x="550165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 · IEEE 830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5016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Funcionalidades esenciales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550165" y="15727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Calibri"/>
              <a:buNone/>
            </a:pPr>
            <a:r>
              <a:rPr lang="es-CO" sz="1300" b="0" i="1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El SRS organiza los requisitos funcionales y no funcionales de Stratify como base para el desarrollo y la validación.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5016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71475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22" descr="icons/search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62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/>
          <p:nvPr/>
        </p:nvSpPr>
        <p:spPr>
          <a:xfrm>
            <a:off x="128168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01–03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1475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Movimientos y límites de stock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71475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Registrar entradas y salidas, y definir límites de existencias por producto.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32968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449427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22" descr="icons/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314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506120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04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49427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Alertas y códigos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49427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Generar códigos y alertar sobre stock cero y vencimientos próximos.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810920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827379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22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9266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/>
          <p:nvPr/>
        </p:nvSpPr>
        <p:spPr>
          <a:xfrm>
            <a:off x="884072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05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27379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Consulta y búsqueda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827379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Consultar inventario, cantidades y vencimientos; buscar productos.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016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1475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2" descr="icons/tag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62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128168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06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71475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Roles e historial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71475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Asignar roles y permisos, y conservar el historial de cambios.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32968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49427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22" descr="icons/cog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14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2"/>
          <p:cNvSpPr/>
          <p:nvPr/>
        </p:nvSpPr>
        <p:spPr>
          <a:xfrm>
            <a:off x="506120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07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49427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Reportes y actualización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49427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Generar reportes, consultar rotación, conciliar existencias y actualizar productos.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0920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827379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22" descr="icons/bel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266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884072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No funcional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827379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Calidad del sistema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827379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lang="es-CO" sz="10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Incluye rendimiento, disponibilidad, respaldo, integridad, usabilidad, sesiones y políticas de contraseña.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Arquitectura y stack tecnológico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48640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975104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3" descr="icons/cod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3412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/>
          <p:nvPr/>
        </p:nvSpPr>
        <p:spPr>
          <a:xfrm>
            <a:off x="685800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685800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Interfaz web (stack específico sujeto a confirmación)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731520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Interfaz para consultar y gestionar el inventario según los permisos.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133088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559552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23" descr="icons/serv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7860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/>
          <p:nvPr/>
        </p:nvSpPr>
        <p:spPr>
          <a:xfrm>
            <a:off x="4270248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270248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MVC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315968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Separación de responsabilidades entre presentación, control y datos.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7717536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9144000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23" descr="icons/databas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230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/>
          <p:nvPr/>
        </p:nvSpPr>
        <p:spPr>
          <a:xfrm>
            <a:off x="7854696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7854696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 relacional MySQL</a:t>
            </a:r>
            <a:endParaRPr sz="11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7900416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El SRS incluye scripts de base de datos MySQL.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548640" y="416052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Herramientas indicadas por el equipo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156019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23" descr="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906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/>
          <p:nvPr/>
        </p:nvSpPr>
        <p:spPr>
          <a:xfrm>
            <a:off x="64008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4008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325755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3"/>
          <p:cNvSpPr/>
          <p:nvPr/>
        </p:nvSpPr>
        <p:spPr>
          <a:xfrm>
            <a:off x="426910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23" descr="icons/car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797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3"/>
          <p:cNvSpPr/>
          <p:nvPr/>
        </p:nvSpPr>
        <p:spPr>
          <a:xfrm>
            <a:off x="334899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Railway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34899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Despliegue mencionado en la presentación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96646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3"/>
          <p:cNvSpPr/>
          <p:nvPr/>
        </p:nvSpPr>
        <p:spPr>
          <a:xfrm>
            <a:off x="697801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23" descr="icons/envelop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9688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3"/>
          <p:cNvSpPr/>
          <p:nvPr/>
        </p:nvSpPr>
        <p:spPr>
          <a:xfrm>
            <a:off x="605790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Respaldos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605790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Copias de seguridad contempladas en los requisitos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8675370" y="4572000"/>
            <a:ext cx="2480400" cy="1371600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68692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4" name="Google Shape;444;p23" descr="icons/sync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0579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/>
          <p:nvPr/>
        </p:nvSpPr>
        <p:spPr>
          <a:xfrm>
            <a:off x="876681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Seguridad y roles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876681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lang="es-CO" sz="95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Autenticación, permisos y trazabilidad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"/>
          <p:cNvSpPr/>
          <p:nvPr/>
        </p:nvSpPr>
        <p:spPr>
          <a:xfrm>
            <a:off x="4357538" y="-800100"/>
            <a:ext cx="458206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Logico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EC648B-E326-1B8D-0C87-56959F40B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39" y="1061479"/>
            <a:ext cx="6702014" cy="5366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/>
          <p:nvPr/>
        </p:nvSpPr>
        <p:spPr>
          <a:xfrm>
            <a:off x="3374904" y="0"/>
            <a:ext cx="45175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3200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Casos de Uso</a:t>
            </a:r>
          </a:p>
        </p:txBody>
      </p:sp>
      <p:pic>
        <p:nvPicPr>
          <p:cNvPr id="2" name="image13.png">
            <a:extLst>
              <a:ext uri="{FF2B5EF4-FFF2-40B4-BE49-F238E27FC236}">
                <a16:creationId xmlns:a16="http://schemas.microsoft.com/office/drawing/2014/main" id="{7A6AA3BC-DB0F-E776-B459-CE8935A13378}"/>
              </a:ext>
            </a:extLst>
          </p:cNvPr>
          <p:cNvPicPr/>
          <p:nvPr/>
        </p:nvPicPr>
        <p:blipFill>
          <a:blip r:embed="rId3"/>
          <a:srcRect t="5904" r="-3" b="18292"/>
          <a:stretch>
            <a:fillRect/>
          </a:stretch>
        </p:blipFill>
        <p:spPr>
          <a:xfrm>
            <a:off x="2762717" y="1600200"/>
            <a:ext cx="6172200" cy="48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Pruebas de software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548640" y="1645920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868680" y="192024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6" descr="icons/vi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/>
          <p:nvPr/>
        </p:nvSpPr>
        <p:spPr>
          <a:xfrm>
            <a:off x="160020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868680" y="251460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00"/>
              <a:buFont typeface="Calibri"/>
              <a:buNone/>
            </a:pPr>
            <a:r>
              <a:rPr lang="es-CO" sz="12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Las pruebas deben verificar la lógica interna y el cumplimiento de los requisitos definidos.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868680" y="3108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y autenticación de usuarios</a:t>
            </a:r>
            <a:endParaRPr sz="1200" dirty="0">
              <a:solidFill>
                <a:srgbClr val="222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68680" y="354787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Asignación y validación de roles</a:t>
            </a:r>
            <a:endParaRPr sz="1200" dirty="0">
              <a:solidFill>
                <a:srgbClr val="222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868680" y="3986784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Gestión y actualización de productos</a:t>
            </a:r>
            <a:endParaRPr sz="1200" dirty="0">
              <a:solidFill>
                <a:srgbClr val="222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68680" y="442569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de movimientos de inventario</a:t>
            </a:r>
            <a:endParaRPr sz="1200" dirty="0">
              <a:solidFill>
                <a:srgbClr val="222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868680" y="48646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Validación de límites y alertas</a:t>
            </a:r>
            <a:endParaRPr sz="1200" dirty="0">
              <a:solidFill>
                <a:srgbClr val="2229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943540" y="1711572"/>
            <a:ext cx="5696700" cy="4480500"/>
          </a:xfrm>
          <a:prstGeom prst="roundRect">
            <a:avLst>
              <a:gd name="adj" fmla="val 1633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6263640" y="1920240"/>
            <a:ext cx="594300" cy="5943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6" name="Google Shape;476;p26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1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6"/>
          <p:cNvSpPr/>
          <p:nvPr/>
        </p:nvSpPr>
        <p:spPr>
          <a:xfrm>
            <a:off x="699516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s-CO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263640" y="251460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00"/>
              <a:buFont typeface="Calibri"/>
              <a:buNone/>
            </a:pPr>
            <a:r>
              <a:rPr lang="es-CO" sz="1200" b="0" i="0" u="none" strike="noStrik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Se comprueba el comportamiento observable del sistema frente a los requisitos, mediante escenarios válidos e inválidos.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263640" y="338328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263640" y="382219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Búsqueda y consulta del inventario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263640" y="4261104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Entradas y salidas de productos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6263640" y="486460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Alertas, Historial de movimientos.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09600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7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7"/>
          <p:cNvSpPr/>
          <p:nvPr/>
        </p:nvSpPr>
        <p:spPr>
          <a:xfrm>
            <a:off x="705612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productos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05612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Permite gestionar productos y consultar su información y estado.</a:t>
            </a:r>
            <a:endParaRPr lang="es-ES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Creación de aplicación web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508760" y="2201836"/>
            <a:ext cx="959346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Stratify se orienta a automatizar el inventario de la cervecería y apoyar el control de existencias y vencimientos.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7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/>
          <p:nvPr/>
        </p:nvSpPr>
        <p:spPr>
          <a:xfrm>
            <a:off x="150876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50876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La interfaz debe facilitar la consulta y gestión de la información de acuerdo con los permisos asignados.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548640" y="5257800"/>
            <a:ext cx="1060710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Trabajo futuro señalado en el SRS: autenticación </a:t>
            </a:r>
            <a:r>
              <a:rPr lang="es-CO" sz="1250" b="1" i="0" u="none" strike="noStrike" cap="none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multifactor</a:t>
            </a: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y cifrado de extremo a extremo.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1068</Words>
  <Application>Microsoft Office PowerPoint</Application>
  <PresentationFormat>Panorámica</PresentationFormat>
  <Paragraphs>181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Work Sans</vt:lpstr>
      <vt:lpstr>Calibri</vt:lpstr>
      <vt:lpstr>Work Sans SemiBold</vt:lpstr>
      <vt:lpstr>Cambria</vt:lpstr>
      <vt:lpstr>Arial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Aprendiz</dc:creator>
  <cp:lastModifiedBy>24A_9212109601</cp:lastModifiedBy>
  <cp:revision>13</cp:revision>
  <dcterms:modified xsi:type="dcterms:W3CDTF">2026-09-23T13:03:30Z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3dc41c4-3f95-4020-bedd-cbbd89182633_Enabled">
    <vt:lpwstr>true</vt:lpwstr>
  </property>
  <property fmtid="{D5CDD505-2E9C-101B-9397-08002B2CF9AE}" pid="3" name="MSIP_Label_13dc41c4-3f95-4020-bedd-cbbd89182633_SetDate">
    <vt:lpwstr>2026-09-16T11:40:21Z</vt:lpwstr>
  </property>
  <property fmtid="{D5CDD505-2E9C-101B-9397-08002B2CF9AE}" pid="4" name="MSIP_Label_13dc41c4-3f95-4020-bedd-cbbd89182633_Method">
    <vt:lpwstr>Privileged</vt:lpwstr>
  </property>
  <property fmtid="{D5CDD505-2E9C-101B-9397-08002B2CF9AE}" pid="5" name="MSIP_Label_13dc41c4-3f95-4020-bedd-cbbd89182633_Name">
    <vt:lpwstr>General</vt:lpwstr>
  </property>
  <property fmtid="{D5CDD505-2E9C-101B-9397-08002B2CF9AE}" pid="6" name="MSIP_Label_13dc41c4-3f95-4020-bedd-cbbd89182633_SiteId">
    <vt:lpwstr>cbc2c381-2f2e-4d93-91d1-506c9316ace7</vt:lpwstr>
  </property>
  <property fmtid="{D5CDD505-2E9C-101B-9397-08002B2CF9AE}" pid="7" name="MSIP_Label_13dc41c4-3f95-4020-bedd-cbbd89182633_ActionId">
    <vt:lpwstr>4f9b96f8-97cc-42f3-ba1b-623d9ba828d4</vt:lpwstr>
  </property>
  <property fmtid="{D5CDD505-2E9C-101B-9397-08002B2CF9AE}" pid="8" name="MSIP_Label_13dc41c4-3f95-4020-bedd-cbbd89182633_ContentBits">
    <vt:lpwstr>0</vt:lpwstr>
  </property>
  <property fmtid="{D5CDD505-2E9C-101B-9397-08002B2CF9AE}" pid="9" name="MSIP_Label_13dc41c4-3f95-4020-bedd-cbbd89182633_Tag">
    <vt:lpwstr>10, 0, 1, 1</vt:lpwstr>
  </property>
</Properties>
</file>